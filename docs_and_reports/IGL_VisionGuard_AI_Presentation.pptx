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8BDF8"/>
                </a:solidFill>
              </a:defRPr>
            </a:pPr>
            <a:r>
              <a:t>🛡️ IGL VisionGuard AI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Industrial AI Safety &amp; Packaging Quality Intelligence Platform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Detailed Technical Architecture, Two-Pass AI Pipeline, Geofence Radar &amp; Packaging Inspection Presentation</a:t>
            </a:r>
          </a:p>
          <a:p>
            <a:br/>
            <a:pPr>
              <a:defRPr sz="1400" b="1">
                <a:solidFill>
                  <a:srgbClr val="34D399"/>
                </a:solidFill>
              </a:defRPr>
            </a:pPr>
            <a:r>
              <a:t>GitHub Repository: https://github.com/Shiv-Kumar005023/IGL.git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02 | Complete 10-Module Application Sitemap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Comprehensive Application Navigation &amp; Architecture Breakdown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52120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1. Overview (DashboardView.jsx)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System KPIs, live alert feed, camera status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08760"/>
            <a:ext cx="52120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50876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2. Camera Setup (CameraInputView.jsx)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Webcam, RTSP CCTV, Video Upload + Mirror View toggle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52120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3. Live Monitoring (LiveMonitoringView.jsx)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60 FPS AI inference, person tracking, phone siren, overlays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68880"/>
            <a:ext cx="52120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46888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4. Packaging Inspection (PackagingInspectionView.jsx)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High-speed conveyor viewport, fill-level, cap &amp; bottle defect QC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29000"/>
            <a:ext cx="52120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2900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5. Safety Events (AlertsView.jsx)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Active safety alerts table &amp; base64 photo evidence modal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429000"/>
            <a:ext cx="52120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342900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6. Near Miss (NearMissView.jsx)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2.0m Dangerous Zone Boundary Box &amp; distance radar slider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89120"/>
            <a:ext cx="52120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7. Incidents (PersonnelAnomalyView.jsx)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Personnel authorization checks &amp; sleeping-on-duty alerts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389120"/>
            <a:ext cx="52120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38912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8. Analytics (AnalyticsView.jsx)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Historical breach trends, PPE charts &amp; time distribution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49240"/>
            <a:ext cx="52120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4924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9. Camera Health (CameraHealthView.jsx)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FPS stability, brightness scoring &amp; lens blur variance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5349240"/>
            <a:ext cx="52120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534924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10. Configuration (ConfigurationView.jsx)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Geofence polygon ROI boundary drawer &amp; threshold controls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03 | Real-Time Person Detection &amp; Centroid Tracker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Strict AI Inference Pipeline with Zero Heuristic Fallbacks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Strict Person Count Rule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Strict AI Requirement: The person counter displays '0 Persons' when no human is present in frame.</a:t>
            </a:r>
            <a:br/>
            <a:br/>
            <a:r>
              <a:t>• Heuristic &amp; Dummy Fallbacks Removed: Completely eliminated '|| 1' fallbacks, fake tracking IDs, or simulated persons.</a:t>
            </a:r>
            <a:br/>
            <a:br/>
            <a:r>
              <a:t>• Direct AI Driver: Person counts are 100% driven by TensorFlow.js COCO-SSD prediction score &gt;= minConfidence (0.35).</a:t>
            </a:r>
            <a:br/>
            <a:br/>
            <a:r>
              <a:t>• Clear Reset State: When 0 persons are detected, active tracks and phone misuse states automatically reset.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Centroid Multi-Person Tracker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Track ID Assignment: Generates unique persistent track IDs (TRK-P101, TRK-P102, etc.) for each detected worker.</a:t>
            </a:r>
            <a:br/>
            <a:br/>
            <a:r>
              <a:t>• Centroid Distance Matching: Matches bounding box centers across frames with max distance tolerance 0.25.</a:t>
            </a:r>
            <a:br/>
            <a:br/>
            <a:r>
              <a:t>• Track Disappearance Memory: Active tracks are maintained for 3000ms before expiration if momentarily occluded.</a:t>
            </a:r>
            <a:br/>
            <a:br/>
            <a:r>
              <a:t>• State Synchronization: Links per-worker helmet verification and mobile phone misuse escalation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04 | Two-Pass Mobile Phone Misuse Detection Engine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Small Object Capture, Upscaled ROI Crop &amp; Siren Escalation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BBF24"/>
                </a:solidFill>
              </a:defRPr>
            </a:pPr>
            <a:r>
              <a:t>Two-Pass Architecture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Pass 1 (Full Frame): COCO-SSD runs at low internal threshold (0.15) to capture initial phone candidates.</a:t>
            </a:r>
            <a:br/>
            <a:br/>
            <a:r>
              <a:t>2. Pass 2 (Enlarged Upper-Body ROI): For each detected person, head, ears, face, chest &amp; hands region (+20% margins) is cropped, upscaled to 360x360 offscreen canvas, and re-inspected.</a:t>
            </a:r>
            <a:br/>
            <a:br/>
            <a:r>
              <a:t>3. Coordinate Re-mapping: ROI phone bounding boxes are scaled back into full-frame pixel coordinates.</a:t>
            </a:r>
            <a:br/>
            <a:br/>
            <a:r>
              <a:t>4. IoU Deduplication: Merges overlapping detections (&gt;0.30 IoU) into a clean combined detection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87171"/>
                </a:solidFill>
              </a:defRPr>
            </a:pPr>
            <a:r>
              <a:t>Warning Escalation &amp; Siren Machine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Spatial Upper-Body Association: Associates phones with nearest person's upper body (max distance = height * 0.70).</a:t>
            </a:r>
            <a:br/>
            <a:br/>
            <a:r>
              <a:t>• Persistence &amp; Grace Frames: Requires 3 consecutive persistence frames + 3 miss grace frames to filter noise.</a:t>
            </a:r>
            <a:br/>
            <a:br/>
            <a:r>
              <a:t>• Escalation Levels:</a:t>
            </a:r>
            <a:br/>
            <a:r>
              <a:t>   - Level 1 (Duration &gt;= 2s): Initial Warning Alert.</a:t>
            </a:r>
            <a:br/>
            <a:r>
              <a:t>   - Level 2 (Interval 4s): Second Warning Alert.</a:t>
            </a:r>
            <a:br/>
            <a:r>
              <a:t>   - Level 3 (Max Warnings): Web Audio Siren Alarm Activated!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05 | Dedicated ML Helmet Verification System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Tensor Head Crop Inference with Strict Conservative Safety Fallback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Dedicated Helmet ML Architecture &amp; Safety Rules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Head Crop Tensor Preprocessing: Extracts top 25% head ROI from person bounding box, converts to RGB tensor, resizes to 224x224, and normalizes pixel values [0, 1].</a:t>
            </a:r>
            <a:br/>
            <a:br/>
            <a:r>
              <a:t>• Dedicated Model Handler (detectHelmetForPerson): Asynchronously loads custom trained TFJS model (/models/helmet/model.json).</a:t>
            </a:r>
            <a:br/>
            <a:br/>
            <a:r>
              <a:t>• Strict Conservative Safety Rule: If custom model files are unsupplied, model fails to load, or score &lt; HELMET_CONFIDENCE_THRESHOLD (0.65), system strictly defaults to hasHelmet: false with clear reason ('Dedicated ML model files unsupplied').</a:t>
            </a:r>
            <a:br/>
            <a:br/>
            <a:r>
              <a:t>• Explicit Tensor Memory Disposal: Executes tf.dispose([cropTensor, resizedTensor, normTensor, prediction]) on every frame to guarantee zero GPU memory leaks.</a:t>
            </a:r>
            <a:br/>
            <a:br/>
            <a:r>
              <a:t>• Temporal Persistence: Uses HELMET_PERSISTENCE_FRAMES = 3 and HELMET_MISS_GRACE_FRAMES = 3 to eliminate single-frame flickering.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06 | Camera Setup &amp; Camera Mirroring Controls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Flexible Input Channels &amp; Selfie Mirror View Transformation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Input Stream Channels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Webcam Feed: Connects device physical webcams via navigator.mediaDevices.getUserMedia.</a:t>
            </a:r>
            <a:br/>
            <a:br/>
            <a:r>
              <a:t>2. IP CCTV RTSP Stream: Connects factory network cameras (rtsp://192.168.1.100:554/ch01).</a:t>
            </a:r>
            <a:br/>
            <a:br/>
            <a:r>
              <a:t>3. Recorded MP4 Video File: Upload local recorded inspection video for testing.</a:t>
            </a:r>
            <a:br/>
            <a:br/>
            <a:r>
              <a:t>4. Frame Quality Analysis: Real-time scoring for brightness (0-255), blur variance (Laplacian score), resolution, and FPS stability.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Horizontal Camera Mirroring (Selfie View)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Root Cause Resolved: Browser raw camera stream does not mirror video, causing left/right inversion. Added selfie mirror transformation (scaleX(-1)).</a:t>
            </a:r>
            <a:br/>
            <a:br/>
            <a:r>
              <a:t>• 1-Click Toggle Button: Added 'Mirror View (ON / OFF)' button in both Camera Setup and Live Monitoring headers.</a:t>
            </a:r>
            <a:br/>
            <a:br/>
            <a:r>
              <a:t>• Auto-Aligned Bounding Box Math: Bounding boxes auto-align to flipped video (px = width - (x + w)*width), while text tags remain 100% readable &amp; non-flipped!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07 | Live AI Monitoring &amp; Decoupled 60 FPS Engine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High-Speed Canvas Rendering with Throttled Async Inference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Performance &amp; Architecture Innovations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Decoupled Render Loop: requestAnimationFrame runs smooth 60 FPS video canvas rendering, completely decoupled from async TensorFlow inference.</a:t>
            </a:r>
            <a:br/>
            <a:br/>
            <a:r>
              <a:t>• Throttled Async Inference: AI object detection runs every ~150ms using a boolean concurrency lock (isDetectingRef) to prevent promise queueing &amp; UI freezes.</a:t>
            </a:r>
            <a:br/>
            <a:br/>
            <a:r>
              <a:t>• Visual Overlay Layers: Draws Person bounding boxes, Helmet OK/NO HELMET tags, Cell Phone bboxes, Proximity distance lines, and Restricted Zone polygons.</a:t>
            </a:r>
            <a:br/>
            <a:br/>
            <a:r>
              <a:t>• Real-Time AI Debug Inspector: Live on-screen console card showing raw prediction counts, phone candidates, and associated worker track IDs.</a:t>
            </a:r>
            <a:br/>
            <a:br/>
            <a:r>
              <a:t>• Manual Evidence Alert Capture: 1-click button captures canvas snapshot as base64 string and triggers instant safety alert to database.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08 | Conveyor Bottle Packaging Quality Control (Module 4)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Automated Fill-Level, Cap Integrity, Surface Defect Inspection &amp; Reject Ejector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084FC"/>
                </a:solidFill>
              </a:defRPr>
            </a:pPr>
            <a:r>
              <a:t>Quad Inspection Checks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Bottle Detection &amp; ID: Tracks bottles moving through conveyor (BTL-9840, BTL-9841, etc.).</a:t>
            </a:r>
            <a:br/>
            <a:br/>
            <a:r>
              <a:t>2. Fill-Level Inspection: PASS (88-95%), LOW FILL (60-77%), HIGH FILL (98-100%) with liquid level bar gauge.</a:t>
            </a:r>
            <a:br/>
            <a:br/>
            <a:r>
              <a:t>3. Cap Integrity Check: PASS, MISSING, MISALIGNED, or DAMAGED.</a:t>
            </a:r>
            <a:br/>
            <a:br/>
            <a:r>
              <a:t>4. Bottle Surface &amp; Body Anomaly: PASS, SURFACE DEFECT, SHAPE ANOMALY.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Overall Decision &amp; Modular Hardware API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Overall Decision: PASS / ACCEPT (all checks pass) vs REJECT / DISCARD (critical check fails).</a:t>
            </a:r>
            <a:br/>
            <a:br/>
            <a:r>
              <a:t>• Air-Jet Ejector Output: Automated reject trigger state logged on inspection failure.</a:t>
            </a:r>
            <a:br/>
            <a:br/>
            <a:r>
              <a:t>• Conveyor Live Viewport: Animated conveyor belt, 3D laser scanner beam, and real-time liquid level graphics.</a:t>
            </a:r>
            <a:br/>
            <a:br/>
            <a:r>
              <a:t>• Modular Hardware API: Service packagingProcessor.js structured for seamless replacement with real 3D depth cameras &amp; TensorRT models.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09 | Dangerous Zone Boundary Box &amp; Proximity Radar (Module 5)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Geofence Safety Perimeter, Dynamic Distance Position &amp; Proximity Badges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87171"/>
                </a:solidFill>
              </a:defRPr>
            </a:pPr>
            <a:r>
              <a:t>Dangerous Zone Boundary Box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Geofence Perimeter: Visual red danger box (DANGEROUS ZONE BOUNDARY 2.0m) drawn around vehicles &amp; machinery.</a:t>
            </a:r>
            <a:br/>
            <a:br/>
            <a:r>
              <a:t>• Real-World Purpose: Prevents workers from entering forbidden high-risk zones (High-Voltage Transformers, Crane Swings, Conveyors).</a:t>
            </a:r>
            <a:br/>
            <a:br/>
            <a:r>
              <a:t>• Polygon Ray-Casting: Detects exact boundary intrusion using point-in-polygon math.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BBF24"/>
                </a:solidFill>
              </a:defRPr>
            </a:pPr>
            <a:r>
              <a:t>Dynamic Distance Radar Controls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Dynamic Worker Position Movement: Moving the Worker Distance slider (0.2m to 3.0m) dynamically shifts worker node position on radar screen relative to vehicle boundary!</a:t>
            </a:r>
            <a:br/>
            <a:br/>
            <a:r>
              <a:t>• Live Risk Status Badges:</a:t>
            </a:r>
            <a:br/>
            <a:r>
              <a:t>   - &lt; 1.0m: CRITICAL PROXIMITY BREACH (Red alert + pulse)</a:t>
            </a:r>
            <a:br/>
            <a:r>
              <a:t>   - 1.0m - 2.0m: HIGH PROXIMITY RISK (Amber warning)</a:t>
            </a:r>
            <a:br/>
            <a:r>
              <a:t>   - &gt; 2.0m: SAFE DISTANCE OK (Green OK)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10 | Safety Events &amp; Photo Evidence Capture (Module 6)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SQLite Database Alert Logs &amp; Interactive Evidence Snapshot Modal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Safety Alert Management Pipeline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Real-Time Alert Log Table: Synchronizes with backend SQLite database (/api/alerts) every 3 seconds.</a:t>
            </a:r>
            <a:br/>
            <a:br/>
            <a:r>
              <a:t>• Event Information: Displays event type (PPE_VIOLATION, MOBILE_PHONE_USAGE, NEAR_MISS, RESTRICTED_ZONE), zone name, severity, confidence %, timestamp, and status.</a:t>
            </a:r>
            <a:br/>
            <a:br/>
            <a:r>
              <a:t>• Alert Status Lifecycle: Status updates from DETECTED -&gt; ACKNOWLEDGED -&gt; RESOLVED with 1-click status patch endpoints.</a:t>
            </a:r>
            <a:br/>
            <a:br/>
            <a:r>
              <a:t>• Photo Evidence Snapshot Modal: Clicking 'View Photo Evidence' opens modal displaying high-res base64 image snapshot captured at the exact moment of breach.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11 | Personnel Anomaly &amp; Sleeping Detection (Module 7)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Worker Recognition &amp; Duty Inactivity Monitoring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Personnel Safety &amp; Duty Monitoring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Worker Authorization Checks: Cross-references detected worker face/body characteristics against registered roster to spot unrecognized personnel.</a:t>
            </a:r>
            <a:br/>
            <a:br/>
            <a:r>
              <a:t>• Sleeping-on-Duty Inactivity Alert: Monitors worker head angle &amp; body pose duration to trigger sleeping-on-duty warnings when operators remain inactive in control rooms or plant bays.</a:t>
            </a:r>
            <a:br/>
            <a:br/>
            <a:r>
              <a:t>• Audit Log Persistence: Personnel anomaly events are logged to SQLite database with timestamps and severity scores.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12 | Analytics, Camera Health &amp; Configuration (Modules 8, 9, 10)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System Metrics, Lens Blur Scoring &amp; Polygon Geofence Builder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Analytics &amp; Camera Health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Analytics Charts (Module 8): Displays historical violation distributions, hourly safety breach trends, and zone risk comparisons.</a:t>
            </a:r>
            <a:br/>
            <a:br/>
            <a:r>
              <a:t>• Camera &amp; AI Health Grid (Module 9): Monitors camera online status, FPS stability, mean frame brightness (0-255), and Laplacian blur variance score to flag lens dirt/occlusion.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BBF24"/>
                </a:solidFill>
              </a:defRPr>
            </a:pPr>
            <a:r>
              <a:t>Configuration &amp; Geofencing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Polygon Geofence Builder (Module 10): Interactive ROI drawer allowing site admins to define custom multi-point dangerous zone polygons.</a:t>
            </a:r>
            <a:br/>
            <a:br/>
            <a:r>
              <a:t>• Threshold Sliders: Adjustable cutoffs for PPE confidence threshold, phone threshold, min phone duration sec, and max warning escalation limits.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13 | SQLite Database &amp; FastAPI REST API Contracts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Production Persistence &amp; Backend Server API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SQLite Database Schemas (igl_safety.db)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Table: alerts (id, event_type, zone_name, severity, confidence, status, detected_at, evidence_image_base64, metadata_json)</a:t>
            </a:r>
            <a:br/>
            <a:br/>
            <a:r>
              <a:t>• Table: cameras (id, name, type, status, resolution, fps, last_seen)</a:t>
            </a:r>
            <a:br/>
            <a:br/>
            <a:r>
              <a:t>• Table: observations (id, timestamp, person_count, active_violations)</a:t>
            </a:r>
            <a:br/>
            <a:br/>
            <a:r>
              <a:t>• Table: restricted_zones (id, zone_name, polygon_coords_json)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FastAPI Endpoints (Port 8000)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GET /api/dashboard/stats : Live stats calculated directly from SQLite tables.</a:t>
            </a:r>
            <a:br/>
            <a:br/>
            <a:r>
              <a:t>• GET &amp; POST /api/cameras : List and register new camera stream feeds.</a:t>
            </a:r>
            <a:br/>
            <a:br/>
            <a:r>
              <a:t>• GET &amp; POST /api/alerts : Retrieve alert logs &amp; post violation with base64 snapshot.</a:t>
            </a:r>
            <a:br/>
            <a:br/>
            <a:r>
              <a:t>• PATCH /api/alerts/{id}/status : Update alert status to ACKNOWLEDGED or RESOLVED.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14 | Deployment, Execution Guide &amp; GitHub Repository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Local Startup Commands &amp; Repository Commits Sync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Deployment &amp; Execution Guide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Backend Execution:</a:t>
            </a:r>
            <a:br/>
            <a:r>
              <a:t>   cd backend &amp;&amp; python main.py  (Runs FastAPI on http://localhost:8000)</a:t>
            </a:r>
            <a:br/>
            <a:br/>
            <a:r>
              <a:t>• Frontend Execution:</a:t>
            </a:r>
            <a:br/>
            <a:r>
              <a:t>   cd frontend &amp;&amp; npm run dev  (Runs Vite React App on http://localhost:3000)</a:t>
            </a:r>
            <a:br/>
            <a:br/>
            <a:r>
              <a:t>• GitHub Repository Sync:</a:t>
            </a:r>
            <a:br/>
            <a:r>
              <a:t>   https://github.com/Shiv-Kumar005023/IGL.git  (Branch: main, All commits pushed &amp; clean)</a:t>
            </a:r>
            <a:br/>
            <a:br/>
            <a:r>
              <a:t>• Documentation &amp; Presentation Assets:</a:t>
            </a:r>
            <a:br/>
            <a:r>
              <a:t>   Located in project directory under docs_and_reports/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